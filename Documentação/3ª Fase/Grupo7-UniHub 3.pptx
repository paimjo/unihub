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eague Spartan" charset="1" panose="00000800000000000000"/>
      <p:regular r:id="rId17"/>
    </p:embeddedFont>
    <p:embeddedFont>
      <p:font typeface="Poppins" charset="1" panose="00000500000000000000"/>
      <p:regular r:id="rId18"/>
    </p:embeddedFont>
    <p:embeddedFont>
      <p:font typeface="Glacial Indifference" charset="1" panose="00000000000000000000"/>
      <p:regular r:id="rId19"/>
    </p:embeddedFont>
    <p:embeddedFont>
      <p:font typeface="Poppins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75316" y="3857533"/>
            <a:ext cx="7600263" cy="5657590"/>
            <a:chOff x="0" y="0"/>
            <a:chExt cx="2001715" cy="14900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01715" cy="1490065"/>
            </a:xfrm>
            <a:custGeom>
              <a:avLst/>
              <a:gdLst/>
              <a:ahLst/>
              <a:cxnLst/>
              <a:rect r="r" b="b" t="t" l="l"/>
              <a:pathLst>
                <a:path h="1490065" w="2001715">
                  <a:moveTo>
                    <a:pt x="51951" y="0"/>
                  </a:moveTo>
                  <a:lnTo>
                    <a:pt x="1949765" y="0"/>
                  </a:lnTo>
                  <a:cubicBezTo>
                    <a:pt x="1978456" y="0"/>
                    <a:pt x="2001715" y="23259"/>
                    <a:pt x="2001715" y="51951"/>
                  </a:cubicBezTo>
                  <a:lnTo>
                    <a:pt x="2001715" y="1438114"/>
                  </a:lnTo>
                  <a:cubicBezTo>
                    <a:pt x="2001715" y="1451892"/>
                    <a:pt x="1996242" y="1465106"/>
                    <a:pt x="1986499" y="1474849"/>
                  </a:cubicBezTo>
                  <a:cubicBezTo>
                    <a:pt x="1976757" y="1484591"/>
                    <a:pt x="1963543" y="1490065"/>
                    <a:pt x="1949765" y="1490065"/>
                  </a:cubicBezTo>
                  <a:lnTo>
                    <a:pt x="51951" y="1490065"/>
                  </a:lnTo>
                  <a:cubicBezTo>
                    <a:pt x="38172" y="1490065"/>
                    <a:pt x="24959" y="1484591"/>
                    <a:pt x="15216" y="1474849"/>
                  </a:cubicBezTo>
                  <a:cubicBezTo>
                    <a:pt x="5473" y="1465106"/>
                    <a:pt x="0" y="1451892"/>
                    <a:pt x="0" y="1438114"/>
                  </a:cubicBezTo>
                  <a:lnTo>
                    <a:pt x="0" y="51951"/>
                  </a:lnTo>
                  <a:cubicBezTo>
                    <a:pt x="0" y="38172"/>
                    <a:pt x="5473" y="24959"/>
                    <a:pt x="15216" y="15216"/>
                  </a:cubicBezTo>
                  <a:cubicBezTo>
                    <a:pt x="24959" y="5473"/>
                    <a:pt x="38172" y="0"/>
                    <a:pt x="5195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001715" cy="154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27756" y="2336791"/>
            <a:ext cx="13091125" cy="4634100"/>
            <a:chOff x="0" y="0"/>
            <a:chExt cx="3447868" cy="12205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47868" cy="1220504"/>
            </a:xfrm>
            <a:custGeom>
              <a:avLst/>
              <a:gdLst/>
              <a:ahLst/>
              <a:cxnLst/>
              <a:rect r="r" b="b" t="t" l="l"/>
              <a:pathLst>
                <a:path h="1220504" w="3447868">
                  <a:moveTo>
                    <a:pt x="28978" y="0"/>
                  </a:moveTo>
                  <a:lnTo>
                    <a:pt x="3418890" y="0"/>
                  </a:lnTo>
                  <a:cubicBezTo>
                    <a:pt x="3426576" y="0"/>
                    <a:pt x="3433946" y="3053"/>
                    <a:pt x="3439381" y="8487"/>
                  </a:cubicBezTo>
                  <a:cubicBezTo>
                    <a:pt x="3444815" y="13922"/>
                    <a:pt x="3447868" y="21293"/>
                    <a:pt x="3447868" y="28978"/>
                  </a:cubicBezTo>
                  <a:lnTo>
                    <a:pt x="3447868" y="1191526"/>
                  </a:lnTo>
                  <a:cubicBezTo>
                    <a:pt x="3447868" y="1207530"/>
                    <a:pt x="3434894" y="1220504"/>
                    <a:pt x="3418890" y="1220504"/>
                  </a:cubicBezTo>
                  <a:lnTo>
                    <a:pt x="28978" y="1220504"/>
                  </a:lnTo>
                  <a:cubicBezTo>
                    <a:pt x="21293" y="1220504"/>
                    <a:pt x="13922" y="1217451"/>
                    <a:pt x="8487" y="1212016"/>
                  </a:cubicBezTo>
                  <a:cubicBezTo>
                    <a:pt x="3053" y="1206582"/>
                    <a:pt x="0" y="1199211"/>
                    <a:pt x="0" y="1191526"/>
                  </a:cubicBezTo>
                  <a:lnTo>
                    <a:pt x="0" y="28978"/>
                  </a:lnTo>
                  <a:cubicBezTo>
                    <a:pt x="0" y="12974"/>
                    <a:pt x="12974" y="0"/>
                    <a:pt x="2897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447868" cy="1277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906491" y="4370602"/>
            <a:ext cx="12666681" cy="7830312"/>
          </a:xfrm>
          <a:custGeom>
            <a:avLst/>
            <a:gdLst/>
            <a:ahLst/>
            <a:cxnLst/>
            <a:rect r="r" b="b" t="t" l="l"/>
            <a:pathLst>
              <a:path h="7830312" w="12666681">
                <a:moveTo>
                  <a:pt x="0" y="0"/>
                </a:moveTo>
                <a:lnTo>
                  <a:pt x="12666681" y="0"/>
                </a:lnTo>
                <a:lnTo>
                  <a:pt x="12666681" y="7830312"/>
                </a:lnTo>
                <a:lnTo>
                  <a:pt x="0" y="7830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27507">
            <a:off x="-1875219" y="5131476"/>
            <a:ext cx="6587560" cy="4391707"/>
          </a:xfrm>
          <a:custGeom>
            <a:avLst/>
            <a:gdLst/>
            <a:ahLst/>
            <a:cxnLst/>
            <a:rect r="r" b="b" t="t" l="l"/>
            <a:pathLst>
              <a:path h="4391707" w="6587560">
                <a:moveTo>
                  <a:pt x="0" y="0"/>
                </a:moveTo>
                <a:lnTo>
                  <a:pt x="6587560" y="0"/>
                </a:lnTo>
                <a:lnTo>
                  <a:pt x="6587560" y="4391707"/>
                </a:lnTo>
                <a:lnTo>
                  <a:pt x="0" y="43917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8000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937827" y="3465346"/>
            <a:ext cx="12070983" cy="2497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72"/>
              </a:lnSpc>
            </a:pPr>
            <a:r>
              <a:rPr lang="en-US" sz="1801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UniHub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90903" y="5757537"/>
            <a:ext cx="10208762" cy="429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2"/>
              </a:lnSpc>
            </a:pPr>
            <a:r>
              <a:rPr lang="en-US" sz="296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Transformando estudantes em agentes de mudança.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60190" y="368338"/>
            <a:ext cx="8527810" cy="377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672">
                <a:solidFill>
                  <a:srgbClr val="2B2A2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Universidade Europeia - IADE - Engenharia Informatica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10846" y="9210675"/>
            <a:ext cx="5408035" cy="790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3"/>
              </a:lnSpc>
            </a:pPr>
            <a:r>
              <a:rPr lang="en-US" sz="2267">
                <a:solidFill>
                  <a:srgbClr val="2B2A2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Cássia  Baptista, Luis Somavie,</a:t>
            </a:r>
          </a:p>
          <a:p>
            <a:pPr algn="l">
              <a:lnSpc>
                <a:spcPts val="3173"/>
              </a:lnSpc>
            </a:pPr>
            <a:r>
              <a:rPr lang="en-US" sz="2267">
                <a:solidFill>
                  <a:srgbClr val="2B2A2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José Paim, Marlinda  Da Conceição.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16789" y="9258300"/>
            <a:ext cx="3970670" cy="551300"/>
            <a:chOff x="0" y="0"/>
            <a:chExt cx="1359715" cy="1887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9715" cy="188787"/>
            </a:xfrm>
            <a:custGeom>
              <a:avLst/>
              <a:gdLst/>
              <a:ahLst/>
              <a:cxnLst/>
              <a:rect r="r" b="b" t="t" l="l"/>
              <a:pathLst>
                <a:path h="188787" w="1359715">
                  <a:moveTo>
                    <a:pt x="19498" y="0"/>
                  </a:moveTo>
                  <a:lnTo>
                    <a:pt x="1340217" y="0"/>
                  </a:lnTo>
                  <a:cubicBezTo>
                    <a:pt x="1345388" y="0"/>
                    <a:pt x="1350348" y="2054"/>
                    <a:pt x="1354004" y="5711"/>
                  </a:cubicBezTo>
                  <a:cubicBezTo>
                    <a:pt x="1357661" y="9367"/>
                    <a:pt x="1359715" y="14327"/>
                    <a:pt x="1359715" y="19498"/>
                  </a:cubicBezTo>
                  <a:lnTo>
                    <a:pt x="1359715" y="169289"/>
                  </a:lnTo>
                  <a:cubicBezTo>
                    <a:pt x="1359715" y="180058"/>
                    <a:pt x="1350985" y="188787"/>
                    <a:pt x="1340217" y="188787"/>
                  </a:cubicBezTo>
                  <a:lnTo>
                    <a:pt x="19498" y="188787"/>
                  </a:lnTo>
                  <a:cubicBezTo>
                    <a:pt x="8729" y="188787"/>
                    <a:pt x="0" y="180058"/>
                    <a:pt x="0" y="169289"/>
                  </a:cubicBezTo>
                  <a:lnTo>
                    <a:pt x="0" y="19498"/>
                  </a:lnTo>
                  <a:cubicBezTo>
                    <a:pt x="0" y="8729"/>
                    <a:pt x="8729" y="0"/>
                    <a:pt x="1949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59715" cy="245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702124" y="2790435"/>
            <a:ext cx="11272933" cy="701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6"/>
              </a:lnSpc>
            </a:pPr>
          </a:p>
          <a:p>
            <a:pPr algn="ctr">
              <a:lnSpc>
                <a:spcPts val="5106"/>
              </a:lnSpc>
            </a:pPr>
            <a:r>
              <a:rPr lang="en-US" sz="3647" spc="1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 estudantes enfrentam dificuldades na procura de oportunidades porque a informação está dispersa, os processos de candidatura são pouco intuitivos e existe pouca oferta de experiências práticas durante o curso. Esta combinação gera insegurança e torna o processo lento e ineficiente.</a:t>
            </a:r>
          </a:p>
          <a:p>
            <a:pPr algn="ctr">
              <a:lnSpc>
                <a:spcPts val="5106"/>
              </a:lnSpc>
            </a:pPr>
          </a:p>
          <a:p>
            <a:pPr algn="ctr">
              <a:lnSpc>
                <a:spcPts val="5106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4332470" y="2150128"/>
            <a:ext cx="14151139" cy="328504"/>
            <a:chOff x="0" y="0"/>
            <a:chExt cx="4845912" cy="1124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45912" cy="112493"/>
            </a:xfrm>
            <a:custGeom>
              <a:avLst/>
              <a:gdLst/>
              <a:ahLst/>
              <a:cxnLst/>
              <a:rect r="r" b="b" t="t" l="l"/>
              <a:pathLst>
                <a:path h="112493" w="4845912">
                  <a:moveTo>
                    <a:pt x="5471" y="0"/>
                  </a:moveTo>
                  <a:lnTo>
                    <a:pt x="4840441" y="0"/>
                  </a:lnTo>
                  <a:cubicBezTo>
                    <a:pt x="4843462" y="0"/>
                    <a:pt x="4845912" y="2449"/>
                    <a:pt x="4845912" y="5471"/>
                  </a:cubicBezTo>
                  <a:lnTo>
                    <a:pt x="4845912" y="107022"/>
                  </a:lnTo>
                  <a:cubicBezTo>
                    <a:pt x="4845912" y="108473"/>
                    <a:pt x="4845336" y="109864"/>
                    <a:pt x="4844310" y="110890"/>
                  </a:cubicBezTo>
                  <a:cubicBezTo>
                    <a:pt x="4843283" y="111916"/>
                    <a:pt x="4841892" y="112493"/>
                    <a:pt x="4840441" y="112493"/>
                  </a:cubicBezTo>
                  <a:lnTo>
                    <a:pt x="5471" y="112493"/>
                  </a:lnTo>
                  <a:cubicBezTo>
                    <a:pt x="4020" y="112493"/>
                    <a:pt x="2628" y="111916"/>
                    <a:pt x="1602" y="110890"/>
                  </a:cubicBezTo>
                  <a:cubicBezTo>
                    <a:pt x="576" y="109864"/>
                    <a:pt x="0" y="108473"/>
                    <a:pt x="0" y="107022"/>
                  </a:cubicBezTo>
                  <a:lnTo>
                    <a:pt x="0" y="5471"/>
                  </a:lnTo>
                  <a:cubicBezTo>
                    <a:pt x="0" y="4020"/>
                    <a:pt x="576" y="2628"/>
                    <a:pt x="1602" y="1602"/>
                  </a:cubicBezTo>
                  <a:cubicBezTo>
                    <a:pt x="2628" y="576"/>
                    <a:pt x="4020" y="0"/>
                    <a:pt x="54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845912" cy="169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919852" y="9258300"/>
            <a:ext cx="14585876" cy="331054"/>
            <a:chOff x="0" y="0"/>
            <a:chExt cx="4994783" cy="1133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94783" cy="113366"/>
            </a:xfrm>
            <a:custGeom>
              <a:avLst/>
              <a:gdLst/>
              <a:ahLst/>
              <a:cxnLst/>
              <a:rect r="r" b="b" t="t" l="l"/>
              <a:pathLst>
                <a:path h="113366" w="4994783">
                  <a:moveTo>
                    <a:pt x="5308" y="0"/>
                  </a:moveTo>
                  <a:lnTo>
                    <a:pt x="4989475" y="0"/>
                  </a:lnTo>
                  <a:cubicBezTo>
                    <a:pt x="4990883" y="0"/>
                    <a:pt x="4992233" y="559"/>
                    <a:pt x="4993228" y="1555"/>
                  </a:cubicBezTo>
                  <a:cubicBezTo>
                    <a:pt x="4994223" y="2550"/>
                    <a:pt x="4994783" y="3900"/>
                    <a:pt x="4994783" y="5308"/>
                  </a:cubicBezTo>
                  <a:lnTo>
                    <a:pt x="4994783" y="108058"/>
                  </a:lnTo>
                  <a:cubicBezTo>
                    <a:pt x="4994783" y="110990"/>
                    <a:pt x="4992407" y="113366"/>
                    <a:pt x="4989475" y="113366"/>
                  </a:cubicBezTo>
                  <a:lnTo>
                    <a:pt x="5308" y="113366"/>
                  </a:lnTo>
                  <a:cubicBezTo>
                    <a:pt x="2376" y="113366"/>
                    <a:pt x="0" y="110990"/>
                    <a:pt x="0" y="108058"/>
                  </a:cubicBezTo>
                  <a:lnTo>
                    <a:pt x="0" y="5308"/>
                  </a:lnTo>
                  <a:cubicBezTo>
                    <a:pt x="0" y="2376"/>
                    <a:pt x="2376" y="0"/>
                    <a:pt x="530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994783" cy="170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702124" y="619125"/>
            <a:ext cx="15411832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4"/>
              </a:lnSpc>
            </a:pPr>
            <a:r>
              <a:rPr lang="en-US" b="true" sz="7499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IDENTIFICAÇÃO DO PROBLEMA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46517" y="9258300"/>
            <a:ext cx="19381035" cy="181355"/>
            <a:chOff x="0" y="0"/>
            <a:chExt cx="6636836" cy="621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36835" cy="62103"/>
            </a:xfrm>
            <a:custGeom>
              <a:avLst/>
              <a:gdLst/>
              <a:ahLst/>
              <a:cxnLst/>
              <a:rect r="r" b="b" t="t" l="l"/>
              <a:pathLst>
                <a:path h="62103" w="6636835">
                  <a:moveTo>
                    <a:pt x="3995" y="0"/>
                  </a:moveTo>
                  <a:lnTo>
                    <a:pt x="6632841" y="0"/>
                  </a:lnTo>
                  <a:cubicBezTo>
                    <a:pt x="6633900" y="0"/>
                    <a:pt x="6634916" y="421"/>
                    <a:pt x="6635666" y="1170"/>
                  </a:cubicBezTo>
                  <a:cubicBezTo>
                    <a:pt x="6636414" y="1919"/>
                    <a:pt x="6636835" y="2935"/>
                    <a:pt x="6636835" y="3995"/>
                  </a:cubicBezTo>
                  <a:lnTo>
                    <a:pt x="6636835" y="58108"/>
                  </a:lnTo>
                  <a:cubicBezTo>
                    <a:pt x="6636835" y="60315"/>
                    <a:pt x="6635047" y="62103"/>
                    <a:pt x="6632841" y="62103"/>
                  </a:cubicBezTo>
                  <a:lnTo>
                    <a:pt x="3995" y="62103"/>
                  </a:lnTo>
                  <a:cubicBezTo>
                    <a:pt x="2935" y="62103"/>
                    <a:pt x="1919" y="61682"/>
                    <a:pt x="1170" y="60933"/>
                  </a:cubicBezTo>
                  <a:cubicBezTo>
                    <a:pt x="421" y="60184"/>
                    <a:pt x="0" y="59168"/>
                    <a:pt x="0" y="58108"/>
                  </a:cubicBezTo>
                  <a:lnTo>
                    <a:pt x="0" y="3995"/>
                  </a:lnTo>
                  <a:cubicBezTo>
                    <a:pt x="0" y="1788"/>
                    <a:pt x="1788" y="0"/>
                    <a:pt x="39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636836" cy="119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78181" y="763537"/>
            <a:ext cx="10457193" cy="422257"/>
            <a:chOff x="0" y="0"/>
            <a:chExt cx="3580958" cy="144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0958" cy="144598"/>
            </a:xfrm>
            <a:custGeom>
              <a:avLst/>
              <a:gdLst/>
              <a:ahLst/>
              <a:cxnLst/>
              <a:rect r="r" b="b" t="t" l="l"/>
              <a:pathLst>
                <a:path h="144598" w="3580958">
                  <a:moveTo>
                    <a:pt x="7403" y="0"/>
                  </a:moveTo>
                  <a:lnTo>
                    <a:pt x="3573554" y="0"/>
                  </a:lnTo>
                  <a:cubicBezTo>
                    <a:pt x="3577643" y="0"/>
                    <a:pt x="3580958" y="3315"/>
                    <a:pt x="3580958" y="7403"/>
                  </a:cubicBezTo>
                  <a:lnTo>
                    <a:pt x="3580958" y="137194"/>
                  </a:lnTo>
                  <a:cubicBezTo>
                    <a:pt x="3580958" y="139158"/>
                    <a:pt x="3580178" y="141041"/>
                    <a:pt x="3578789" y="142429"/>
                  </a:cubicBezTo>
                  <a:cubicBezTo>
                    <a:pt x="3577401" y="143818"/>
                    <a:pt x="3575518" y="144598"/>
                    <a:pt x="3573554" y="144598"/>
                  </a:cubicBezTo>
                  <a:lnTo>
                    <a:pt x="7403" y="144598"/>
                  </a:lnTo>
                  <a:cubicBezTo>
                    <a:pt x="5440" y="144598"/>
                    <a:pt x="3557" y="143818"/>
                    <a:pt x="2168" y="142429"/>
                  </a:cubicBezTo>
                  <a:cubicBezTo>
                    <a:pt x="780" y="141041"/>
                    <a:pt x="0" y="139158"/>
                    <a:pt x="0" y="137194"/>
                  </a:cubicBezTo>
                  <a:lnTo>
                    <a:pt x="0" y="7403"/>
                  </a:lnTo>
                  <a:cubicBezTo>
                    <a:pt x="0" y="5440"/>
                    <a:pt x="780" y="3557"/>
                    <a:pt x="2168" y="2168"/>
                  </a:cubicBezTo>
                  <a:cubicBezTo>
                    <a:pt x="3557" y="780"/>
                    <a:pt x="5440" y="0"/>
                    <a:pt x="74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580958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963493" y="3334794"/>
            <a:ext cx="12361015" cy="4585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sz="3214" spc="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lang="en-US" b="true" sz="3214" spc="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UniHub </a:t>
            </a:r>
            <a:r>
              <a:rPr lang="en-US" sz="3214" spc="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é uma plataforma que reúne oportunidades académicas, estágios e voluntariado num único espaço, tornando o processo de procura mais </a:t>
            </a:r>
            <a:r>
              <a:rPr lang="en-US" b="true" sz="3214" spc="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simples e organizado</a:t>
            </a:r>
            <a:r>
              <a:rPr lang="en-US" sz="3214" spc="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O seu objetivo é facilitar a candidatura, orientar o percurso profissional e aproximar estudantes de experiências reais. O público‑alvo são </a:t>
            </a:r>
            <a:r>
              <a:rPr lang="en-US" b="true" sz="3214" spc="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estudantes universitários e organizações </a:t>
            </a:r>
            <a:r>
              <a:rPr lang="en-US" sz="3214" spc="9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que procuram divulgar oportunidades de forma eficiente.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2626" y="1947794"/>
            <a:ext cx="17382748" cy="1260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92"/>
              </a:lnSpc>
              <a:spcBef>
                <a:spcPct val="0"/>
              </a:spcBef>
            </a:pPr>
            <a:r>
              <a:rPr lang="en-US" b="true" sz="8591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UNIHUB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0163" y="2658825"/>
            <a:ext cx="10701496" cy="7822765"/>
            <a:chOff x="0" y="0"/>
            <a:chExt cx="2355937" cy="1722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5937" cy="1722184"/>
            </a:xfrm>
            <a:custGeom>
              <a:avLst/>
              <a:gdLst/>
              <a:ahLst/>
              <a:cxnLst/>
              <a:rect r="r" b="b" t="t" l="l"/>
              <a:pathLst>
                <a:path h="1722184" w="2355937">
                  <a:moveTo>
                    <a:pt x="13745" y="0"/>
                  </a:moveTo>
                  <a:lnTo>
                    <a:pt x="2342192" y="0"/>
                  </a:lnTo>
                  <a:cubicBezTo>
                    <a:pt x="2345837" y="0"/>
                    <a:pt x="2349334" y="1448"/>
                    <a:pt x="2351911" y="4026"/>
                  </a:cubicBezTo>
                  <a:cubicBezTo>
                    <a:pt x="2354489" y="6604"/>
                    <a:pt x="2355937" y="10100"/>
                    <a:pt x="2355937" y="13745"/>
                  </a:cubicBezTo>
                  <a:lnTo>
                    <a:pt x="2355937" y="1708438"/>
                  </a:lnTo>
                  <a:cubicBezTo>
                    <a:pt x="2355937" y="1712084"/>
                    <a:pt x="2354489" y="1715580"/>
                    <a:pt x="2351911" y="1718158"/>
                  </a:cubicBezTo>
                  <a:cubicBezTo>
                    <a:pt x="2349334" y="1720736"/>
                    <a:pt x="2345837" y="1722184"/>
                    <a:pt x="2342192" y="1722184"/>
                  </a:cubicBezTo>
                  <a:lnTo>
                    <a:pt x="13745" y="1722184"/>
                  </a:lnTo>
                  <a:cubicBezTo>
                    <a:pt x="10100" y="1722184"/>
                    <a:pt x="6604" y="1720736"/>
                    <a:pt x="4026" y="1718158"/>
                  </a:cubicBezTo>
                  <a:cubicBezTo>
                    <a:pt x="1448" y="1715580"/>
                    <a:pt x="0" y="1712084"/>
                    <a:pt x="0" y="1708438"/>
                  </a:cubicBezTo>
                  <a:lnTo>
                    <a:pt x="0" y="13745"/>
                  </a:lnTo>
                  <a:cubicBezTo>
                    <a:pt x="0" y="10100"/>
                    <a:pt x="1448" y="6604"/>
                    <a:pt x="4026" y="4026"/>
                  </a:cubicBezTo>
                  <a:cubicBezTo>
                    <a:pt x="6604" y="1448"/>
                    <a:pt x="10100" y="0"/>
                    <a:pt x="137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55937" cy="1779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75241" y="9697947"/>
            <a:ext cx="15465159" cy="268814"/>
            <a:chOff x="0" y="0"/>
            <a:chExt cx="5295884" cy="920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95884" cy="92053"/>
            </a:xfrm>
            <a:custGeom>
              <a:avLst/>
              <a:gdLst/>
              <a:ahLst/>
              <a:cxnLst/>
              <a:rect r="r" b="b" t="t" l="l"/>
              <a:pathLst>
                <a:path h="92053" w="5295884">
                  <a:moveTo>
                    <a:pt x="5006" y="0"/>
                  </a:moveTo>
                  <a:lnTo>
                    <a:pt x="5290878" y="0"/>
                  </a:lnTo>
                  <a:cubicBezTo>
                    <a:pt x="5292206" y="0"/>
                    <a:pt x="5293479" y="527"/>
                    <a:pt x="5294418" y="1466"/>
                  </a:cubicBezTo>
                  <a:cubicBezTo>
                    <a:pt x="5295357" y="2405"/>
                    <a:pt x="5295884" y="3678"/>
                    <a:pt x="5295884" y="5006"/>
                  </a:cubicBezTo>
                  <a:lnTo>
                    <a:pt x="5295884" y="87046"/>
                  </a:lnTo>
                  <a:cubicBezTo>
                    <a:pt x="5295884" y="88374"/>
                    <a:pt x="5295357" y="89647"/>
                    <a:pt x="5294418" y="90586"/>
                  </a:cubicBezTo>
                  <a:cubicBezTo>
                    <a:pt x="5293479" y="91525"/>
                    <a:pt x="5292206" y="92053"/>
                    <a:pt x="5290878" y="92053"/>
                  </a:cubicBezTo>
                  <a:lnTo>
                    <a:pt x="5006" y="92053"/>
                  </a:lnTo>
                  <a:cubicBezTo>
                    <a:pt x="2241" y="92053"/>
                    <a:pt x="0" y="89811"/>
                    <a:pt x="0" y="87046"/>
                  </a:cubicBezTo>
                  <a:lnTo>
                    <a:pt x="0" y="5006"/>
                  </a:lnTo>
                  <a:cubicBezTo>
                    <a:pt x="0" y="3678"/>
                    <a:pt x="527" y="2405"/>
                    <a:pt x="1466" y="1466"/>
                  </a:cubicBezTo>
                  <a:cubicBezTo>
                    <a:pt x="2405" y="527"/>
                    <a:pt x="3678" y="0"/>
                    <a:pt x="500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295884" cy="149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25786" y="1105567"/>
            <a:ext cx="9243144" cy="3125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4"/>
              </a:lnSpc>
            </a:pPr>
            <a:r>
              <a:rPr lang="en-US" sz="7499" b="true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Solução:  UniHub</a:t>
            </a:r>
          </a:p>
          <a:p>
            <a:pPr algn="l">
              <a:lnSpc>
                <a:spcPts val="8024"/>
              </a:lnSpc>
            </a:pPr>
          </a:p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99514" y="3508490"/>
            <a:ext cx="9362793" cy="5202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1"/>
              </a:lnSpc>
              <a:spcBef>
                <a:spcPct val="0"/>
              </a:spcBef>
            </a:pPr>
            <a:r>
              <a:rPr lang="en-US" sz="3672" spc="1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UniHub centraliza oportunidades num único espaço, simplifica o processo de candidatura e permite acompanhar o progresso de forma clara. A plataforma cria um percurso estruturado: </a:t>
            </a:r>
            <a:r>
              <a:rPr lang="en-US" b="true" sz="3672" spc="1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voluntariado, estágio e emprego.</a:t>
            </a:r>
            <a:r>
              <a:rPr lang="en-US" sz="3672" spc="1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facilitando a entrada no mercado de trabalho.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0" y="4452990"/>
            <a:ext cx="4465670" cy="5834010"/>
          </a:xfrm>
          <a:custGeom>
            <a:avLst/>
            <a:gdLst/>
            <a:ahLst/>
            <a:cxnLst/>
            <a:rect r="r" b="b" t="t" l="l"/>
            <a:pathLst>
              <a:path h="5834010" w="4465670">
                <a:moveTo>
                  <a:pt x="0" y="0"/>
                </a:moveTo>
                <a:lnTo>
                  <a:pt x="4465670" y="0"/>
                </a:lnTo>
                <a:lnTo>
                  <a:pt x="4465670" y="5834010"/>
                </a:lnTo>
                <a:lnTo>
                  <a:pt x="0" y="5834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89139" y="4170844"/>
            <a:ext cx="7885111" cy="8276167"/>
            <a:chOff x="0" y="0"/>
            <a:chExt cx="717871" cy="7534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7871" cy="753473"/>
            </a:xfrm>
            <a:custGeom>
              <a:avLst/>
              <a:gdLst/>
              <a:ahLst/>
              <a:cxnLst/>
              <a:rect r="r" b="b" t="t" l="l"/>
              <a:pathLst>
                <a:path h="753473" w="717871">
                  <a:moveTo>
                    <a:pt x="66765" y="0"/>
                  </a:moveTo>
                  <a:lnTo>
                    <a:pt x="651106" y="0"/>
                  </a:lnTo>
                  <a:cubicBezTo>
                    <a:pt x="687979" y="0"/>
                    <a:pt x="717871" y="29892"/>
                    <a:pt x="717871" y="66765"/>
                  </a:cubicBezTo>
                  <a:lnTo>
                    <a:pt x="717871" y="686708"/>
                  </a:lnTo>
                  <a:cubicBezTo>
                    <a:pt x="717871" y="704415"/>
                    <a:pt x="710837" y="721397"/>
                    <a:pt x="698316" y="733918"/>
                  </a:cubicBezTo>
                  <a:cubicBezTo>
                    <a:pt x="685795" y="746439"/>
                    <a:pt x="668813" y="753473"/>
                    <a:pt x="651106" y="753473"/>
                  </a:cubicBezTo>
                  <a:lnTo>
                    <a:pt x="66765" y="753473"/>
                  </a:lnTo>
                  <a:cubicBezTo>
                    <a:pt x="49058" y="753473"/>
                    <a:pt x="32076" y="746439"/>
                    <a:pt x="19555" y="733918"/>
                  </a:cubicBezTo>
                  <a:cubicBezTo>
                    <a:pt x="7034" y="721397"/>
                    <a:pt x="0" y="704415"/>
                    <a:pt x="0" y="686708"/>
                  </a:cubicBezTo>
                  <a:lnTo>
                    <a:pt x="0" y="66765"/>
                  </a:lnTo>
                  <a:cubicBezTo>
                    <a:pt x="0" y="49058"/>
                    <a:pt x="7034" y="32076"/>
                    <a:pt x="19555" y="19555"/>
                  </a:cubicBezTo>
                  <a:cubicBezTo>
                    <a:pt x="32076" y="7034"/>
                    <a:pt x="49058" y="0"/>
                    <a:pt x="667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17871" cy="810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32880" y="606443"/>
            <a:ext cx="10457193" cy="422257"/>
            <a:chOff x="0" y="0"/>
            <a:chExt cx="3580958" cy="144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0958" cy="144598"/>
            </a:xfrm>
            <a:custGeom>
              <a:avLst/>
              <a:gdLst/>
              <a:ahLst/>
              <a:cxnLst/>
              <a:rect r="r" b="b" t="t" l="l"/>
              <a:pathLst>
                <a:path h="144598" w="3580958">
                  <a:moveTo>
                    <a:pt x="7403" y="0"/>
                  </a:moveTo>
                  <a:lnTo>
                    <a:pt x="3573554" y="0"/>
                  </a:lnTo>
                  <a:cubicBezTo>
                    <a:pt x="3577643" y="0"/>
                    <a:pt x="3580958" y="3315"/>
                    <a:pt x="3580958" y="7403"/>
                  </a:cubicBezTo>
                  <a:lnTo>
                    <a:pt x="3580958" y="137194"/>
                  </a:lnTo>
                  <a:cubicBezTo>
                    <a:pt x="3580958" y="139158"/>
                    <a:pt x="3580178" y="141041"/>
                    <a:pt x="3578789" y="142429"/>
                  </a:cubicBezTo>
                  <a:cubicBezTo>
                    <a:pt x="3577401" y="143818"/>
                    <a:pt x="3575518" y="144598"/>
                    <a:pt x="3573554" y="144598"/>
                  </a:cubicBezTo>
                  <a:lnTo>
                    <a:pt x="7403" y="144598"/>
                  </a:lnTo>
                  <a:cubicBezTo>
                    <a:pt x="5440" y="144598"/>
                    <a:pt x="3557" y="143818"/>
                    <a:pt x="2168" y="142429"/>
                  </a:cubicBezTo>
                  <a:cubicBezTo>
                    <a:pt x="780" y="141041"/>
                    <a:pt x="0" y="139158"/>
                    <a:pt x="0" y="137194"/>
                  </a:cubicBezTo>
                  <a:lnTo>
                    <a:pt x="0" y="7403"/>
                  </a:lnTo>
                  <a:cubicBezTo>
                    <a:pt x="0" y="5440"/>
                    <a:pt x="780" y="3557"/>
                    <a:pt x="2168" y="2168"/>
                  </a:cubicBezTo>
                  <a:cubicBezTo>
                    <a:pt x="3557" y="780"/>
                    <a:pt x="5440" y="0"/>
                    <a:pt x="74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580958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170844"/>
            <a:ext cx="7854974" cy="9451509"/>
            <a:chOff x="0" y="0"/>
            <a:chExt cx="715127" cy="8604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5127" cy="860478"/>
            </a:xfrm>
            <a:custGeom>
              <a:avLst/>
              <a:gdLst/>
              <a:ahLst/>
              <a:cxnLst/>
              <a:rect r="r" b="b" t="t" l="l"/>
              <a:pathLst>
                <a:path h="860478" w="715127">
                  <a:moveTo>
                    <a:pt x="67021" y="0"/>
                  </a:moveTo>
                  <a:lnTo>
                    <a:pt x="648106" y="0"/>
                  </a:lnTo>
                  <a:cubicBezTo>
                    <a:pt x="685121" y="0"/>
                    <a:pt x="715127" y="30006"/>
                    <a:pt x="715127" y="67021"/>
                  </a:cubicBezTo>
                  <a:lnTo>
                    <a:pt x="715127" y="793457"/>
                  </a:lnTo>
                  <a:cubicBezTo>
                    <a:pt x="715127" y="830471"/>
                    <a:pt x="685121" y="860478"/>
                    <a:pt x="648106" y="860478"/>
                  </a:cubicBezTo>
                  <a:lnTo>
                    <a:pt x="67021" y="860478"/>
                  </a:lnTo>
                  <a:cubicBezTo>
                    <a:pt x="30006" y="860478"/>
                    <a:pt x="0" y="830471"/>
                    <a:pt x="0" y="793457"/>
                  </a:cubicBezTo>
                  <a:lnTo>
                    <a:pt x="0" y="67021"/>
                  </a:lnTo>
                  <a:cubicBezTo>
                    <a:pt x="0" y="30006"/>
                    <a:pt x="30006" y="0"/>
                    <a:pt x="670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15127" cy="917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264599" y="4184176"/>
            <a:ext cx="1144156" cy="1156627"/>
          </a:xfrm>
          <a:custGeom>
            <a:avLst/>
            <a:gdLst/>
            <a:ahLst/>
            <a:cxnLst/>
            <a:rect r="r" b="b" t="t" l="l"/>
            <a:pathLst>
              <a:path h="1156627" w="1144156">
                <a:moveTo>
                  <a:pt x="0" y="0"/>
                </a:moveTo>
                <a:lnTo>
                  <a:pt x="1144156" y="0"/>
                </a:lnTo>
                <a:lnTo>
                  <a:pt x="1144156" y="1156626"/>
                </a:lnTo>
                <a:lnTo>
                  <a:pt x="0" y="1156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249445"/>
            <a:ext cx="9680161" cy="211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Requisitos Funcionais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08861" y="4472588"/>
            <a:ext cx="7268719" cy="6452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7"/>
              </a:lnSpc>
              <a:spcBef>
                <a:spcPct val="0"/>
              </a:spcBef>
            </a:pPr>
            <a:r>
              <a:rPr lang="en-US" b="true" sz="2826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</a:t>
            </a:r>
            <a:r>
              <a:rPr lang="en-US" b="true" sz="2826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 Empresas e ONGs</a:t>
            </a:r>
          </a:p>
          <a:p>
            <a:pPr algn="l" marL="610240" indent="-305120" lvl="1">
              <a:lnSpc>
                <a:spcPts val="3957"/>
              </a:lnSpc>
              <a:spcBef>
                <a:spcPct val="0"/>
              </a:spcBef>
              <a:buFont typeface="Arial"/>
              <a:buChar char="•"/>
            </a:pPr>
            <a:r>
              <a:rPr lang="en-US" sz="2826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 Institucional</a:t>
            </a:r>
          </a:p>
          <a:p>
            <a:pPr algn="l" marL="610240" indent="-305120" lvl="1">
              <a:lnSpc>
                <a:spcPts val="3957"/>
              </a:lnSpc>
              <a:spcBef>
                <a:spcPct val="0"/>
              </a:spcBef>
              <a:buFont typeface="Arial"/>
              <a:buChar char="•"/>
            </a:pPr>
            <a:r>
              <a:rPr lang="en-US" sz="2826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Criação e Gestão de Oportunidades</a:t>
            </a:r>
          </a:p>
          <a:p>
            <a:pPr algn="l" marL="610240" indent="-305120" lvl="1">
              <a:lnSpc>
                <a:spcPts val="3957"/>
              </a:lnSpc>
              <a:spcBef>
                <a:spcPct val="0"/>
              </a:spcBef>
              <a:buFont typeface="Arial"/>
              <a:buChar char="•"/>
            </a:pPr>
            <a:r>
              <a:rPr lang="en-US" sz="2826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Definição de Requisitos da Vaga</a:t>
            </a:r>
          </a:p>
          <a:p>
            <a:pPr algn="l" marL="610240" indent="-305120" lvl="1">
              <a:lnSpc>
                <a:spcPts val="3957"/>
              </a:lnSpc>
              <a:spcBef>
                <a:spcPct val="0"/>
              </a:spcBef>
              <a:buFont typeface="Arial"/>
              <a:buChar char="•"/>
            </a:pPr>
            <a:r>
              <a:rPr lang="en-US" sz="2826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Gestão de Candidatos</a:t>
            </a:r>
          </a:p>
          <a:p>
            <a:pPr algn="l">
              <a:lnSpc>
                <a:spcPts val="3957"/>
              </a:lnSpc>
              <a:spcBef>
                <a:spcPct val="0"/>
              </a:spcBef>
            </a:pPr>
            <a:r>
              <a:rPr lang="en-US" b="true" sz="2826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Funcionalidades Administrativas</a:t>
            </a:r>
          </a:p>
          <a:p>
            <a:pPr algn="l" marL="610240" indent="-305120" lvl="1">
              <a:lnSpc>
                <a:spcPts val="3957"/>
              </a:lnSpc>
              <a:spcBef>
                <a:spcPct val="0"/>
              </a:spcBef>
              <a:buFont typeface="Arial"/>
              <a:buChar char="•"/>
            </a:pPr>
            <a:r>
              <a:rPr lang="en-US" sz="2826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Aprovação de Contas</a:t>
            </a:r>
          </a:p>
          <a:p>
            <a:pPr algn="l" marL="610240" indent="-305120" lvl="1">
              <a:lnSpc>
                <a:spcPts val="3957"/>
              </a:lnSpc>
              <a:spcBef>
                <a:spcPct val="0"/>
              </a:spcBef>
              <a:buFont typeface="Arial"/>
              <a:buChar char="•"/>
            </a:pPr>
            <a:r>
              <a:rPr lang="en-US" sz="2826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Moderação de Conteúdo</a:t>
            </a:r>
          </a:p>
          <a:p>
            <a:pPr algn="l" marL="610240" indent="-305120" lvl="1">
              <a:lnSpc>
                <a:spcPts val="3957"/>
              </a:lnSpc>
              <a:spcBef>
                <a:spcPct val="0"/>
              </a:spcBef>
              <a:buFont typeface="Arial"/>
              <a:buChar char="•"/>
            </a:pPr>
            <a:r>
              <a:rPr lang="en-US" sz="2826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Bloqueio de Utilizadores</a:t>
            </a:r>
          </a:p>
          <a:p>
            <a:pPr algn="l" marL="610240" indent="-305120" lvl="1">
              <a:lnSpc>
                <a:spcPts val="3957"/>
              </a:lnSpc>
              <a:spcBef>
                <a:spcPct val="0"/>
              </a:spcBef>
              <a:buFont typeface="Arial"/>
              <a:buChar char="•"/>
            </a:pPr>
            <a:r>
              <a:rPr lang="en-US" sz="2826" spc="8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Estatísticas da Plataforma</a:t>
            </a:r>
          </a:p>
          <a:p>
            <a:pPr algn="l">
              <a:lnSpc>
                <a:spcPts val="3957"/>
              </a:lnSpc>
              <a:spcBef>
                <a:spcPct val="0"/>
              </a:spcBef>
            </a:pPr>
          </a:p>
          <a:p>
            <a:pPr algn="l">
              <a:lnSpc>
                <a:spcPts val="3957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435866" y="4667239"/>
            <a:ext cx="7902382" cy="5446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2"/>
              </a:lnSpc>
              <a:spcBef>
                <a:spcPct val="0"/>
              </a:spcBef>
            </a:pPr>
            <a:r>
              <a:rPr lang="en-US" b="true" sz="3072" spc="9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</a:t>
            </a:r>
            <a:r>
              <a:rPr lang="en-US" b="true" sz="3072" spc="9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 Estudantes</a:t>
            </a:r>
          </a:p>
          <a:p>
            <a:pPr algn="l" marL="663437" indent="-331719" lvl="1">
              <a:lnSpc>
                <a:spcPts val="4302"/>
              </a:lnSpc>
              <a:spcBef>
                <a:spcPct val="0"/>
              </a:spcBef>
              <a:buFont typeface="Arial"/>
              <a:buChar char="•"/>
            </a:pPr>
            <a:r>
              <a:rPr lang="en-US" sz="3072" spc="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Autenticação</a:t>
            </a:r>
          </a:p>
          <a:p>
            <a:pPr algn="l" marL="663437" indent="-331719" lvl="1">
              <a:lnSpc>
                <a:spcPts val="4302"/>
              </a:lnSpc>
              <a:spcBef>
                <a:spcPct val="0"/>
              </a:spcBef>
              <a:buFont typeface="Arial"/>
              <a:buChar char="•"/>
            </a:pPr>
            <a:r>
              <a:rPr lang="en-US" sz="3072" spc="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Perfil Académico e Profissional</a:t>
            </a:r>
          </a:p>
          <a:p>
            <a:pPr algn="l" marL="663437" indent="-331719" lvl="1">
              <a:lnSpc>
                <a:spcPts val="4302"/>
              </a:lnSpc>
              <a:spcBef>
                <a:spcPct val="0"/>
              </a:spcBef>
              <a:buFont typeface="Arial"/>
              <a:buChar char="•"/>
            </a:pPr>
            <a:r>
              <a:rPr lang="en-US" sz="3072" spc="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Pesquisa de Oportunidades</a:t>
            </a:r>
          </a:p>
          <a:p>
            <a:pPr algn="l" marL="663437" indent="-331719" lvl="1">
              <a:lnSpc>
                <a:spcPts val="4302"/>
              </a:lnSpc>
              <a:spcBef>
                <a:spcPct val="0"/>
              </a:spcBef>
              <a:buFont typeface="Arial"/>
              <a:buChar char="•"/>
            </a:pPr>
            <a:r>
              <a:rPr lang="en-US" sz="3072" spc="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Submissão de Candidaturas</a:t>
            </a:r>
          </a:p>
          <a:p>
            <a:pPr algn="l" marL="663437" indent="-331719" lvl="1">
              <a:lnSpc>
                <a:spcPts val="4302"/>
              </a:lnSpc>
              <a:spcBef>
                <a:spcPct val="0"/>
              </a:spcBef>
              <a:buFont typeface="Arial"/>
              <a:buChar char="•"/>
            </a:pPr>
            <a:r>
              <a:rPr lang="en-US" sz="3072" spc="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Acompanhamento de Candidaturas</a:t>
            </a:r>
          </a:p>
          <a:p>
            <a:pPr algn="l" marL="663437" indent="-331719" lvl="1">
              <a:lnSpc>
                <a:spcPts val="4302"/>
              </a:lnSpc>
              <a:spcBef>
                <a:spcPct val="0"/>
              </a:spcBef>
              <a:buFont typeface="Arial"/>
              <a:buChar char="•"/>
            </a:pPr>
            <a:r>
              <a:rPr lang="en-US" sz="3072" spc="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Notificações</a:t>
            </a:r>
          </a:p>
          <a:p>
            <a:pPr algn="l" marL="663437" indent="-331719" lvl="1">
              <a:lnSpc>
                <a:spcPts val="4302"/>
              </a:lnSpc>
              <a:spcBef>
                <a:spcPct val="0"/>
              </a:spcBef>
              <a:buFont typeface="Arial"/>
              <a:buChar char="•"/>
            </a:pPr>
            <a:r>
              <a:rPr lang="en-US" sz="3072" spc="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Avaliação de Experiências</a:t>
            </a:r>
          </a:p>
          <a:p>
            <a:pPr algn="l">
              <a:lnSpc>
                <a:spcPts val="4302"/>
              </a:lnSpc>
              <a:spcBef>
                <a:spcPct val="0"/>
              </a:spcBef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345916" y="4184176"/>
            <a:ext cx="1144156" cy="1156627"/>
          </a:xfrm>
          <a:custGeom>
            <a:avLst/>
            <a:gdLst/>
            <a:ahLst/>
            <a:cxnLst/>
            <a:rect r="r" b="b" t="t" l="l"/>
            <a:pathLst>
              <a:path h="1156627" w="1144156">
                <a:moveTo>
                  <a:pt x="0" y="0"/>
                </a:moveTo>
                <a:lnTo>
                  <a:pt x="1144157" y="0"/>
                </a:lnTo>
                <a:lnTo>
                  <a:pt x="1144157" y="1156626"/>
                </a:lnTo>
                <a:lnTo>
                  <a:pt x="0" y="1156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32880" y="606443"/>
            <a:ext cx="10457193" cy="422257"/>
            <a:chOff x="0" y="0"/>
            <a:chExt cx="3580958" cy="144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80958" cy="144598"/>
            </a:xfrm>
            <a:custGeom>
              <a:avLst/>
              <a:gdLst/>
              <a:ahLst/>
              <a:cxnLst/>
              <a:rect r="r" b="b" t="t" l="l"/>
              <a:pathLst>
                <a:path h="144598" w="3580958">
                  <a:moveTo>
                    <a:pt x="7403" y="0"/>
                  </a:moveTo>
                  <a:lnTo>
                    <a:pt x="3573554" y="0"/>
                  </a:lnTo>
                  <a:cubicBezTo>
                    <a:pt x="3577643" y="0"/>
                    <a:pt x="3580958" y="3315"/>
                    <a:pt x="3580958" y="7403"/>
                  </a:cubicBezTo>
                  <a:lnTo>
                    <a:pt x="3580958" y="137194"/>
                  </a:lnTo>
                  <a:cubicBezTo>
                    <a:pt x="3580958" y="139158"/>
                    <a:pt x="3580178" y="141041"/>
                    <a:pt x="3578789" y="142429"/>
                  </a:cubicBezTo>
                  <a:cubicBezTo>
                    <a:pt x="3577401" y="143818"/>
                    <a:pt x="3575518" y="144598"/>
                    <a:pt x="3573554" y="144598"/>
                  </a:cubicBezTo>
                  <a:lnTo>
                    <a:pt x="7403" y="144598"/>
                  </a:lnTo>
                  <a:cubicBezTo>
                    <a:pt x="5440" y="144598"/>
                    <a:pt x="3557" y="143818"/>
                    <a:pt x="2168" y="142429"/>
                  </a:cubicBezTo>
                  <a:cubicBezTo>
                    <a:pt x="780" y="141041"/>
                    <a:pt x="0" y="139158"/>
                    <a:pt x="0" y="137194"/>
                  </a:cubicBezTo>
                  <a:lnTo>
                    <a:pt x="0" y="7403"/>
                  </a:lnTo>
                  <a:cubicBezTo>
                    <a:pt x="0" y="5440"/>
                    <a:pt x="780" y="3557"/>
                    <a:pt x="2168" y="2168"/>
                  </a:cubicBezTo>
                  <a:cubicBezTo>
                    <a:pt x="3557" y="780"/>
                    <a:pt x="5440" y="0"/>
                    <a:pt x="74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580958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73413" y="3368080"/>
            <a:ext cx="9085887" cy="9451509"/>
            <a:chOff x="0" y="0"/>
            <a:chExt cx="827191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7191" cy="860478"/>
            </a:xfrm>
            <a:custGeom>
              <a:avLst/>
              <a:gdLst/>
              <a:ahLst/>
              <a:cxnLst/>
              <a:rect r="r" b="b" t="t" l="l"/>
              <a:pathLst>
                <a:path h="860478" w="827191">
                  <a:moveTo>
                    <a:pt x="57942" y="0"/>
                  </a:moveTo>
                  <a:lnTo>
                    <a:pt x="769250" y="0"/>
                  </a:lnTo>
                  <a:cubicBezTo>
                    <a:pt x="784617" y="0"/>
                    <a:pt x="799354" y="6105"/>
                    <a:pt x="810221" y="16971"/>
                  </a:cubicBezTo>
                  <a:cubicBezTo>
                    <a:pt x="821087" y="27837"/>
                    <a:pt x="827191" y="42575"/>
                    <a:pt x="827191" y="57942"/>
                  </a:cubicBezTo>
                  <a:lnTo>
                    <a:pt x="827191" y="802536"/>
                  </a:lnTo>
                  <a:cubicBezTo>
                    <a:pt x="827191" y="817903"/>
                    <a:pt x="821087" y="832641"/>
                    <a:pt x="810221" y="843507"/>
                  </a:cubicBezTo>
                  <a:cubicBezTo>
                    <a:pt x="799354" y="854373"/>
                    <a:pt x="784617" y="860478"/>
                    <a:pt x="769250" y="860478"/>
                  </a:cubicBezTo>
                  <a:lnTo>
                    <a:pt x="57942" y="860478"/>
                  </a:lnTo>
                  <a:cubicBezTo>
                    <a:pt x="42575" y="860478"/>
                    <a:pt x="27837" y="854373"/>
                    <a:pt x="16971" y="843507"/>
                  </a:cubicBezTo>
                  <a:cubicBezTo>
                    <a:pt x="6105" y="832641"/>
                    <a:pt x="0" y="817903"/>
                    <a:pt x="0" y="802536"/>
                  </a:cubicBezTo>
                  <a:lnTo>
                    <a:pt x="0" y="57942"/>
                  </a:lnTo>
                  <a:cubicBezTo>
                    <a:pt x="0" y="42575"/>
                    <a:pt x="6105" y="27837"/>
                    <a:pt x="16971" y="16971"/>
                  </a:cubicBezTo>
                  <a:cubicBezTo>
                    <a:pt x="27837" y="6105"/>
                    <a:pt x="42575" y="0"/>
                    <a:pt x="579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27191" cy="917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13013" y="9047171"/>
            <a:ext cx="10457193" cy="422257"/>
            <a:chOff x="0" y="0"/>
            <a:chExt cx="3580958" cy="144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80958" cy="144598"/>
            </a:xfrm>
            <a:custGeom>
              <a:avLst/>
              <a:gdLst/>
              <a:ahLst/>
              <a:cxnLst/>
              <a:rect r="r" b="b" t="t" l="l"/>
              <a:pathLst>
                <a:path h="144598" w="3580958">
                  <a:moveTo>
                    <a:pt x="7403" y="0"/>
                  </a:moveTo>
                  <a:lnTo>
                    <a:pt x="3573554" y="0"/>
                  </a:lnTo>
                  <a:cubicBezTo>
                    <a:pt x="3577643" y="0"/>
                    <a:pt x="3580958" y="3315"/>
                    <a:pt x="3580958" y="7403"/>
                  </a:cubicBezTo>
                  <a:lnTo>
                    <a:pt x="3580958" y="137194"/>
                  </a:lnTo>
                  <a:cubicBezTo>
                    <a:pt x="3580958" y="139158"/>
                    <a:pt x="3580178" y="141041"/>
                    <a:pt x="3578789" y="142429"/>
                  </a:cubicBezTo>
                  <a:cubicBezTo>
                    <a:pt x="3577401" y="143818"/>
                    <a:pt x="3575518" y="144598"/>
                    <a:pt x="3573554" y="144598"/>
                  </a:cubicBezTo>
                  <a:lnTo>
                    <a:pt x="7403" y="144598"/>
                  </a:lnTo>
                  <a:cubicBezTo>
                    <a:pt x="5440" y="144598"/>
                    <a:pt x="3557" y="143818"/>
                    <a:pt x="2168" y="142429"/>
                  </a:cubicBezTo>
                  <a:cubicBezTo>
                    <a:pt x="780" y="141041"/>
                    <a:pt x="0" y="139158"/>
                    <a:pt x="0" y="137194"/>
                  </a:cubicBezTo>
                  <a:lnTo>
                    <a:pt x="0" y="7403"/>
                  </a:lnTo>
                  <a:cubicBezTo>
                    <a:pt x="0" y="5440"/>
                    <a:pt x="780" y="3557"/>
                    <a:pt x="2168" y="2168"/>
                  </a:cubicBezTo>
                  <a:cubicBezTo>
                    <a:pt x="3557" y="780"/>
                    <a:pt x="5440" y="0"/>
                    <a:pt x="740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580958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692879" y="3576253"/>
            <a:ext cx="1014797" cy="1014797"/>
          </a:xfrm>
          <a:custGeom>
            <a:avLst/>
            <a:gdLst/>
            <a:ahLst/>
            <a:cxnLst/>
            <a:rect r="r" b="b" t="t" l="l"/>
            <a:pathLst>
              <a:path h="1014797" w="1014797">
                <a:moveTo>
                  <a:pt x="0" y="0"/>
                </a:moveTo>
                <a:lnTo>
                  <a:pt x="1014797" y="0"/>
                </a:lnTo>
                <a:lnTo>
                  <a:pt x="1014797" y="1014797"/>
                </a:lnTo>
                <a:lnTo>
                  <a:pt x="0" y="10147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249445"/>
            <a:ext cx="9680161" cy="211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Requisitos não Funcionais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90419" y="5029200"/>
            <a:ext cx="7902382" cy="346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730" indent="-421365" lvl="1">
              <a:lnSpc>
                <a:spcPts val="546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03" spc="11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3903" spc="11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apeamento geográfico</a:t>
            </a:r>
          </a:p>
          <a:p>
            <a:pPr algn="l" marL="842730" indent="-421365" lvl="1">
              <a:lnSpc>
                <a:spcPts val="546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03" spc="11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Avaliações e recomendações</a:t>
            </a:r>
          </a:p>
          <a:p>
            <a:pPr algn="l" marL="842730" indent="-421365" lvl="1">
              <a:lnSpc>
                <a:spcPts val="546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03" spc="11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Org</a:t>
            </a:r>
            <a:r>
              <a:rPr lang="en-US" b="true" sz="3903" spc="11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anização de CVs</a:t>
            </a:r>
          </a:p>
          <a:p>
            <a:pPr algn="l">
              <a:lnSpc>
                <a:spcPts val="546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8830" y="2488058"/>
            <a:ext cx="16461373" cy="7798942"/>
            <a:chOff x="0" y="0"/>
            <a:chExt cx="1498665" cy="7100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8665" cy="710026"/>
            </a:xfrm>
            <a:custGeom>
              <a:avLst/>
              <a:gdLst/>
              <a:ahLst/>
              <a:cxnLst/>
              <a:rect r="r" b="b" t="t" l="l"/>
              <a:pathLst>
                <a:path h="710026" w="1498665">
                  <a:moveTo>
                    <a:pt x="31981" y="0"/>
                  </a:moveTo>
                  <a:lnTo>
                    <a:pt x="1466684" y="0"/>
                  </a:lnTo>
                  <a:cubicBezTo>
                    <a:pt x="1484347" y="0"/>
                    <a:pt x="1498665" y="14318"/>
                    <a:pt x="1498665" y="31981"/>
                  </a:cubicBezTo>
                  <a:lnTo>
                    <a:pt x="1498665" y="678045"/>
                  </a:lnTo>
                  <a:cubicBezTo>
                    <a:pt x="1498665" y="686527"/>
                    <a:pt x="1495296" y="694661"/>
                    <a:pt x="1489298" y="700659"/>
                  </a:cubicBezTo>
                  <a:cubicBezTo>
                    <a:pt x="1483301" y="706657"/>
                    <a:pt x="1475166" y="710026"/>
                    <a:pt x="1466684" y="710026"/>
                  </a:cubicBezTo>
                  <a:lnTo>
                    <a:pt x="31981" y="710026"/>
                  </a:lnTo>
                  <a:cubicBezTo>
                    <a:pt x="14318" y="710026"/>
                    <a:pt x="0" y="695708"/>
                    <a:pt x="0" y="678045"/>
                  </a:cubicBezTo>
                  <a:lnTo>
                    <a:pt x="0" y="31981"/>
                  </a:lnTo>
                  <a:cubicBezTo>
                    <a:pt x="0" y="23499"/>
                    <a:pt x="3369" y="15365"/>
                    <a:pt x="9367" y="9367"/>
                  </a:cubicBezTo>
                  <a:cubicBezTo>
                    <a:pt x="15365" y="3369"/>
                    <a:pt x="23499" y="0"/>
                    <a:pt x="3198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498665" cy="767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32880" y="606443"/>
            <a:ext cx="10457193" cy="422257"/>
            <a:chOff x="0" y="0"/>
            <a:chExt cx="3580958" cy="144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0958" cy="144598"/>
            </a:xfrm>
            <a:custGeom>
              <a:avLst/>
              <a:gdLst/>
              <a:ahLst/>
              <a:cxnLst/>
              <a:rect r="r" b="b" t="t" l="l"/>
              <a:pathLst>
                <a:path h="144598" w="3580958">
                  <a:moveTo>
                    <a:pt x="7403" y="0"/>
                  </a:moveTo>
                  <a:lnTo>
                    <a:pt x="3573554" y="0"/>
                  </a:lnTo>
                  <a:cubicBezTo>
                    <a:pt x="3577643" y="0"/>
                    <a:pt x="3580958" y="3315"/>
                    <a:pt x="3580958" y="7403"/>
                  </a:cubicBezTo>
                  <a:lnTo>
                    <a:pt x="3580958" y="137194"/>
                  </a:lnTo>
                  <a:cubicBezTo>
                    <a:pt x="3580958" y="139158"/>
                    <a:pt x="3580178" y="141041"/>
                    <a:pt x="3578789" y="142429"/>
                  </a:cubicBezTo>
                  <a:cubicBezTo>
                    <a:pt x="3577401" y="143818"/>
                    <a:pt x="3575518" y="144598"/>
                    <a:pt x="3573554" y="144598"/>
                  </a:cubicBezTo>
                  <a:lnTo>
                    <a:pt x="7403" y="144598"/>
                  </a:lnTo>
                  <a:cubicBezTo>
                    <a:pt x="5440" y="144598"/>
                    <a:pt x="3557" y="143818"/>
                    <a:pt x="2168" y="142429"/>
                  </a:cubicBezTo>
                  <a:cubicBezTo>
                    <a:pt x="780" y="141041"/>
                    <a:pt x="0" y="139158"/>
                    <a:pt x="0" y="137194"/>
                  </a:cubicBezTo>
                  <a:lnTo>
                    <a:pt x="0" y="7403"/>
                  </a:lnTo>
                  <a:cubicBezTo>
                    <a:pt x="0" y="5440"/>
                    <a:pt x="780" y="3557"/>
                    <a:pt x="2168" y="2168"/>
                  </a:cubicBezTo>
                  <a:cubicBezTo>
                    <a:pt x="3557" y="780"/>
                    <a:pt x="5440" y="0"/>
                    <a:pt x="74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580958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59833" y="2757221"/>
            <a:ext cx="5894278" cy="3768136"/>
          </a:xfrm>
          <a:custGeom>
            <a:avLst/>
            <a:gdLst/>
            <a:ahLst/>
            <a:cxnLst/>
            <a:rect r="r" b="b" t="t" l="l"/>
            <a:pathLst>
              <a:path h="3768136" w="5894278">
                <a:moveTo>
                  <a:pt x="0" y="0"/>
                </a:moveTo>
                <a:lnTo>
                  <a:pt x="5894278" y="0"/>
                </a:lnTo>
                <a:lnTo>
                  <a:pt x="5894278" y="3768135"/>
                </a:lnTo>
                <a:lnTo>
                  <a:pt x="0" y="37681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4" r="-7087" b="-36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2764633"/>
            <a:ext cx="6440557" cy="3569282"/>
          </a:xfrm>
          <a:custGeom>
            <a:avLst/>
            <a:gdLst/>
            <a:ahLst/>
            <a:cxnLst/>
            <a:rect r="r" b="b" t="t" l="l"/>
            <a:pathLst>
              <a:path h="3569282" w="6440557">
                <a:moveTo>
                  <a:pt x="0" y="0"/>
                </a:moveTo>
                <a:lnTo>
                  <a:pt x="6440557" y="0"/>
                </a:lnTo>
                <a:lnTo>
                  <a:pt x="6440557" y="3569282"/>
                </a:lnTo>
                <a:lnTo>
                  <a:pt x="0" y="35692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559" r="0" b="-355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6525356"/>
            <a:ext cx="6440557" cy="3609377"/>
          </a:xfrm>
          <a:custGeom>
            <a:avLst/>
            <a:gdLst/>
            <a:ahLst/>
            <a:cxnLst/>
            <a:rect r="r" b="b" t="t" l="l"/>
            <a:pathLst>
              <a:path h="3609377" w="6440557">
                <a:moveTo>
                  <a:pt x="0" y="0"/>
                </a:moveTo>
                <a:lnTo>
                  <a:pt x="6440557" y="0"/>
                </a:lnTo>
                <a:lnTo>
                  <a:pt x="6440557" y="3609378"/>
                </a:lnTo>
                <a:lnTo>
                  <a:pt x="0" y="3609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73" r="0" b="-2454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59833" y="6621181"/>
            <a:ext cx="5894278" cy="3425402"/>
          </a:xfrm>
          <a:custGeom>
            <a:avLst/>
            <a:gdLst/>
            <a:ahLst/>
            <a:cxnLst/>
            <a:rect r="r" b="b" t="t" l="l"/>
            <a:pathLst>
              <a:path h="3425402" w="5894278">
                <a:moveTo>
                  <a:pt x="0" y="0"/>
                </a:moveTo>
                <a:lnTo>
                  <a:pt x="5894278" y="0"/>
                </a:lnTo>
                <a:lnTo>
                  <a:pt x="5894278" y="3425403"/>
                </a:lnTo>
                <a:lnTo>
                  <a:pt x="0" y="34254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3924" y="1515638"/>
            <a:ext cx="10991739" cy="94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4"/>
              </a:lnSpc>
              <a:spcBef>
                <a:spcPct val="0"/>
              </a:spcBef>
            </a:pPr>
            <a:r>
              <a:rPr lang="en-US" b="true" sz="6284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 Teste de Usabilidade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3334" y="2451550"/>
            <a:ext cx="16585966" cy="10020094"/>
            <a:chOff x="0" y="0"/>
            <a:chExt cx="1510008" cy="9122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0008" cy="912243"/>
            </a:xfrm>
            <a:custGeom>
              <a:avLst/>
              <a:gdLst/>
              <a:ahLst/>
              <a:cxnLst/>
              <a:rect r="r" b="b" t="t" l="l"/>
              <a:pathLst>
                <a:path h="912243" w="1510008">
                  <a:moveTo>
                    <a:pt x="31741" y="0"/>
                  </a:moveTo>
                  <a:lnTo>
                    <a:pt x="1478268" y="0"/>
                  </a:lnTo>
                  <a:cubicBezTo>
                    <a:pt x="1495798" y="0"/>
                    <a:pt x="1510008" y="14211"/>
                    <a:pt x="1510008" y="31741"/>
                  </a:cubicBezTo>
                  <a:lnTo>
                    <a:pt x="1510008" y="880502"/>
                  </a:lnTo>
                  <a:cubicBezTo>
                    <a:pt x="1510008" y="888920"/>
                    <a:pt x="1506664" y="896994"/>
                    <a:pt x="1500712" y="902946"/>
                  </a:cubicBezTo>
                  <a:cubicBezTo>
                    <a:pt x="1494759" y="908899"/>
                    <a:pt x="1486686" y="912243"/>
                    <a:pt x="1478268" y="912243"/>
                  </a:cubicBezTo>
                  <a:lnTo>
                    <a:pt x="31741" y="912243"/>
                  </a:lnTo>
                  <a:cubicBezTo>
                    <a:pt x="23323" y="912243"/>
                    <a:pt x="15249" y="908899"/>
                    <a:pt x="9297" y="902946"/>
                  </a:cubicBezTo>
                  <a:cubicBezTo>
                    <a:pt x="3344" y="896994"/>
                    <a:pt x="0" y="888920"/>
                    <a:pt x="0" y="880502"/>
                  </a:cubicBezTo>
                  <a:lnTo>
                    <a:pt x="0" y="31741"/>
                  </a:lnTo>
                  <a:cubicBezTo>
                    <a:pt x="0" y="14211"/>
                    <a:pt x="14211" y="0"/>
                    <a:pt x="317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510008" cy="969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32880" y="606443"/>
            <a:ext cx="10457193" cy="422257"/>
            <a:chOff x="0" y="0"/>
            <a:chExt cx="3580958" cy="144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0958" cy="144598"/>
            </a:xfrm>
            <a:custGeom>
              <a:avLst/>
              <a:gdLst/>
              <a:ahLst/>
              <a:cxnLst/>
              <a:rect r="r" b="b" t="t" l="l"/>
              <a:pathLst>
                <a:path h="144598" w="3580958">
                  <a:moveTo>
                    <a:pt x="7403" y="0"/>
                  </a:moveTo>
                  <a:lnTo>
                    <a:pt x="3573554" y="0"/>
                  </a:lnTo>
                  <a:cubicBezTo>
                    <a:pt x="3577643" y="0"/>
                    <a:pt x="3580958" y="3315"/>
                    <a:pt x="3580958" y="7403"/>
                  </a:cubicBezTo>
                  <a:lnTo>
                    <a:pt x="3580958" y="137194"/>
                  </a:lnTo>
                  <a:cubicBezTo>
                    <a:pt x="3580958" y="139158"/>
                    <a:pt x="3580178" y="141041"/>
                    <a:pt x="3578789" y="142429"/>
                  </a:cubicBezTo>
                  <a:cubicBezTo>
                    <a:pt x="3577401" y="143818"/>
                    <a:pt x="3575518" y="144598"/>
                    <a:pt x="3573554" y="144598"/>
                  </a:cubicBezTo>
                  <a:lnTo>
                    <a:pt x="7403" y="144598"/>
                  </a:lnTo>
                  <a:cubicBezTo>
                    <a:pt x="5440" y="144598"/>
                    <a:pt x="3557" y="143818"/>
                    <a:pt x="2168" y="142429"/>
                  </a:cubicBezTo>
                  <a:cubicBezTo>
                    <a:pt x="780" y="141041"/>
                    <a:pt x="0" y="139158"/>
                    <a:pt x="0" y="137194"/>
                  </a:cubicBezTo>
                  <a:lnTo>
                    <a:pt x="0" y="7403"/>
                  </a:lnTo>
                  <a:cubicBezTo>
                    <a:pt x="0" y="5440"/>
                    <a:pt x="780" y="3557"/>
                    <a:pt x="2168" y="2168"/>
                  </a:cubicBezTo>
                  <a:cubicBezTo>
                    <a:pt x="3557" y="780"/>
                    <a:pt x="5440" y="0"/>
                    <a:pt x="74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580958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628364" y="5637382"/>
            <a:ext cx="7031002" cy="3985024"/>
          </a:xfrm>
          <a:custGeom>
            <a:avLst/>
            <a:gdLst/>
            <a:ahLst/>
            <a:cxnLst/>
            <a:rect r="r" b="b" t="t" l="l"/>
            <a:pathLst>
              <a:path h="3985024" w="7031002">
                <a:moveTo>
                  <a:pt x="0" y="0"/>
                </a:moveTo>
                <a:lnTo>
                  <a:pt x="7031002" y="0"/>
                </a:lnTo>
                <a:lnTo>
                  <a:pt x="7031002" y="3985023"/>
                </a:lnTo>
                <a:lnTo>
                  <a:pt x="0" y="39850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54204" y="4065355"/>
            <a:ext cx="6921640" cy="3701370"/>
          </a:xfrm>
          <a:custGeom>
            <a:avLst/>
            <a:gdLst/>
            <a:ahLst/>
            <a:cxnLst/>
            <a:rect r="r" b="b" t="t" l="l"/>
            <a:pathLst>
              <a:path h="3701370" w="6921640">
                <a:moveTo>
                  <a:pt x="0" y="0"/>
                </a:moveTo>
                <a:lnTo>
                  <a:pt x="6921640" y="0"/>
                </a:lnTo>
                <a:lnTo>
                  <a:pt x="6921640" y="3701370"/>
                </a:lnTo>
                <a:lnTo>
                  <a:pt x="0" y="37013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3334" y="1275456"/>
            <a:ext cx="10991739" cy="93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4"/>
              </a:lnSpc>
              <a:spcBef>
                <a:spcPct val="0"/>
              </a:spcBef>
            </a:pPr>
            <a:r>
              <a:rPr lang="en-US" b="true" sz="6284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 Resultados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4204" y="2841225"/>
            <a:ext cx="13934101" cy="907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4"/>
              </a:lnSpc>
              <a:spcBef>
                <a:spcPct val="0"/>
              </a:spcBef>
            </a:pPr>
            <a:r>
              <a:rPr lang="en-US" sz="2524" spc="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pla</a:t>
            </a:r>
            <a:r>
              <a:rPr lang="en-US" sz="2524" spc="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taforma foi considerada intuitiva, com média de 4/5. Navegação simples e funcionalidades claras foram os pontos mais valorizados.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23181" y="2451550"/>
            <a:ext cx="9836119" cy="10020094"/>
            <a:chOff x="0" y="0"/>
            <a:chExt cx="895493" cy="9122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5493" cy="912243"/>
            </a:xfrm>
            <a:custGeom>
              <a:avLst/>
              <a:gdLst/>
              <a:ahLst/>
              <a:cxnLst/>
              <a:rect r="r" b="b" t="t" l="l"/>
              <a:pathLst>
                <a:path h="912243" w="895493">
                  <a:moveTo>
                    <a:pt x="53522" y="0"/>
                  </a:moveTo>
                  <a:lnTo>
                    <a:pt x="841971" y="0"/>
                  </a:lnTo>
                  <a:cubicBezTo>
                    <a:pt x="871531" y="0"/>
                    <a:pt x="895493" y="23963"/>
                    <a:pt x="895493" y="53522"/>
                  </a:cubicBezTo>
                  <a:lnTo>
                    <a:pt x="895493" y="858720"/>
                  </a:lnTo>
                  <a:cubicBezTo>
                    <a:pt x="895493" y="872915"/>
                    <a:pt x="889855" y="886529"/>
                    <a:pt x="879817" y="896566"/>
                  </a:cubicBezTo>
                  <a:cubicBezTo>
                    <a:pt x="869780" y="906604"/>
                    <a:pt x="856166" y="912243"/>
                    <a:pt x="841971" y="912243"/>
                  </a:cubicBezTo>
                  <a:lnTo>
                    <a:pt x="53522" y="912243"/>
                  </a:lnTo>
                  <a:cubicBezTo>
                    <a:pt x="39327" y="912243"/>
                    <a:pt x="25714" y="906604"/>
                    <a:pt x="15676" y="896566"/>
                  </a:cubicBezTo>
                  <a:cubicBezTo>
                    <a:pt x="5639" y="886529"/>
                    <a:pt x="0" y="872915"/>
                    <a:pt x="0" y="858720"/>
                  </a:cubicBezTo>
                  <a:lnTo>
                    <a:pt x="0" y="53522"/>
                  </a:lnTo>
                  <a:cubicBezTo>
                    <a:pt x="0" y="23963"/>
                    <a:pt x="23963" y="0"/>
                    <a:pt x="535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95493" cy="969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32880" y="606443"/>
            <a:ext cx="10457193" cy="422257"/>
            <a:chOff x="0" y="0"/>
            <a:chExt cx="3580958" cy="144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80958" cy="144598"/>
            </a:xfrm>
            <a:custGeom>
              <a:avLst/>
              <a:gdLst/>
              <a:ahLst/>
              <a:cxnLst/>
              <a:rect r="r" b="b" t="t" l="l"/>
              <a:pathLst>
                <a:path h="144598" w="3580958">
                  <a:moveTo>
                    <a:pt x="7403" y="0"/>
                  </a:moveTo>
                  <a:lnTo>
                    <a:pt x="3573554" y="0"/>
                  </a:lnTo>
                  <a:cubicBezTo>
                    <a:pt x="3577643" y="0"/>
                    <a:pt x="3580958" y="3315"/>
                    <a:pt x="3580958" y="7403"/>
                  </a:cubicBezTo>
                  <a:lnTo>
                    <a:pt x="3580958" y="137194"/>
                  </a:lnTo>
                  <a:cubicBezTo>
                    <a:pt x="3580958" y="139158"/>
                    <a:pt x="3580178" y="141041"/>
                    <a:pt x="3578789" y="142429"/>
                  </a:cubicBezTo>
                  <a:cubicBezTo>
                    <a:pt x="3577401" y="143818"/>
                    <a:pt x="3575518" y="144598"/>
                    <a:pt x="3573554" y="144598"/>
                  </a:cubicBezTo>
                  <a:lnTo>
                    <a:pt x="7403" y="144598"/>
                  </a:lnTo>
                  <a:cubicBezTo>
                    <a:pt x="5440" y="144598"/>
                    <a:pt x="3557" y="143818"/>
                    <a:pt x="2168" y="142429"/>
                  </a:cubicBezTo>
                  <a:cubicBezTo>
                    <a:pt x="780" y="141041"/>
                    <a:pt x="0" y="139158"/>
                    <a:pt x="0" y="137194"/>
                  </a:cubicBezTo>
                  <a:lnTo>
                    <a:pt x="0" y="7403"/>
                  </a:lnTo>
                  <a:cubicBezTo>
                    <a:pt x="0" y="5440"/>
                    <a:pt x="780" y="3557"/>
                    <a:pt x="2168" y="2168"/>
                  </a:cubicBezTo>
                  <a:cubicBezTo>
                    <a:pt x="3557" y="780"/>
                    <a:pt x="5440" y="0"/>
                    <a:pt x="74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580958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464457" y="2877704"/>
            <a:ext cx="7753568" cy="7092769"/>
          </a:xfrm>
          <a:custGeom>
            <a:avLst/>
            <a:gdLst/>
            <a:ahLst/>
            <a:cxnLst/>
            <a:rect r="r" b="b" t="t" l="l"/>
            <a:pathLst>
              <a:path h="7092769" w="7753568">
                <a:moveTo>
                  <a:pt x="0" y="0"/>
                </a:moveTo>
                <a:lnTo>
                  <a:pt x="7753568" y="0"/>
                </a:lnTo>
                <a:lnTo>
                  <a:pt x="7753568" y="7092769"/>
                </a:lnTo>
                <a:lnTo>
                  <a:pt x="0" y="7092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4" r="0" b="-15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73334" y="1275456"/>
            <a:ext cx="10991739" cy="93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4"/>
              </a:lnSpc>
              <a:spcBef>
                <a:spcPct val="0"/>
              </a:spcBef>
            </a:pPr>
            <a:r>
              <a:rPr lang="en-US" b="true" sz="6284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Feedback e Melhorias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7649" y="2500865"/>
            <a:ext cx="6285231" cy="2250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4"/>
              </a:lnSpc>
              <a:spcBef>
                <a:spcPct val="0"/>
              </a:spcBef>
            </a:pPr>
            <a:r>
              <a:rPr lang="en-US" b="true" sz="2524" spc="7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Sugestões </a:t>
            </a:r>
            <a:r>
              <a:rPr lang="en-US" sz="2524" spc="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incluíram melh</a:t>
            </a:r>
            <a:r>
              <a:rPr lang="en-US" sz="2524" spc="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orar a responsividade no iPad e aumentar as opções de candidatura. As melhorias focam-se em otimizar a experiência e ampliar a oferta.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8832" y="9258300"/>
            <a:ext cx="18705664" cy="642557"/>
            <a:chOff x="0" y="0"/>
            <a:chExt cx="6405562" cy="2200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05562" cy="220037"/>
            </a:xfrm>
            <a:custGeom>
              <a:avLst/>
              <a:gdLst/>
              <a:ahLst/>
              <a:cxnLst/>
              <a:rect r="r" b="b" t="t" l="l"/>
              <a:pathLst>
                <a:path h="220037" w="6405562">
                  <a:moveTo>
                    <a:pt x="4139" y="0"/>
                  </a:moveTo>
                  <a:lnTo>
                    <a:pt x="6401423" y="0"/>
                  </a:lnTo>
                  <a:cubicBezTo>
                    <a:pt x="6403709" y="0"/>
                    <a:pt x="6405562" y="1853"/>
                    <a:pt x="6405562" y="4139"/>
                  </a:cubicBezTo>
                  <a:lnTo>
                    <a:pt x="6405562" y="215898"/>
                  </a:lnTo>
                  <a:cubicBezTo>
                    <a:pt x="6405562" y="218184"/>
                    <a:pt x="6403709" y="220037"/>
                    <a:pt x="6401423" y="220037"/>
                  </a:cubicBezTo>
                  <a:lnTo>
                    <a:pt x="4139" y="220037"/>
                  </a:lnTo>
                  <a:cubicBezTo>
                    <a:pt x="1853" y="220037"/>
                    <a:pt x="0" y="218184"/>
                    <a:pt x="0" y="215898"/>
                  </a:cubicBezTo>
                  <a:lnTo>
                    <a:pt x="0" y="4139"/>
                  </a:lnTo>
                  <a:cubicBezTo>
                    <a:pt x="0" y="1853"/>
                    <a:pt x="1853" y="0"/>
                    <a:pt x="413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405562" cy="277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553907" y="808143"/>
            <a:ext cx="7180186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CONCLUSÃO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94297" y="2714389"/>
            <a:ext cx="14855766" cy="535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6"/>
              </a:lnSpc>
              <a:spcBef>
                <a:spcPct val="0"/>
              </a:spcBef>
            </a:pPr>
            <a:r>
              <a:rPr lang="en-US" sz="3018" spc="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lang="en-US" b="true" sz="3018" spc="9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UniHub</a:t>
            </a:r>
            <a:r>
              <a:rPr lang="en-US" sz="3018" spc="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consolidou‑se como uma solução capaz de responder às necessidades reais dos estudantes, centralizando oportunidades e tornando o processo de candidatura mais </a:t>
            </a:r>
            <a:r>
              <a:rPr lang="en-US" b="true" sz="3018" spc="9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simples e acessível</a:t>
            </a:r>
            <a:r>
              <a:rPr lang="en-US" sz="3018" spc="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algn="ctr">
              <a:lnSpc>
                <a:spcPts val="4226"/>
              </a:lnSpc>
              <a:spcBef>
                <a:spcPct val="0"/>
              </a:spcBef>
            </a:pPr>
          </a:p>
          <a:p>
            <a:pPr algn="ctr">
              <a:lnSpc>
                <a:spcPts val="4226"/>
              </a:lnSpc>
              <a:spcBef>
                <a:spcPct val="0"/>
              </a:spcBef>
            </a:pPr>
            <a:r>
              <a:rPr lang="en-US" sz="3018" spc="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Ao longo do projeto a pesquisa o desenvolvimento do protótipo e os testes de usabilidade mostraram que a plataforma é intuitiva, funcional e alinhada com os objetivos definidos no início. Apesar de melhorias futuras identificadas, o UniHub demonstra potencial para apoiar a integração dos estudantes no mercado de trabalho, oferecendo um percurso mais claro, orientado e eficiente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70990" y="2839376"/>
            <a:ext cx="12420331" cy="4049588"/>
            <a:chOff x="0" y="0"/>
            <a:chExt cx="3271198" cy="10665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71198" cy="1066558"/>
            </a:xfrm>
            <a:custGeom>
              <a:avLst/>
              <a:gdLst/>
              <a:ahLst/>
              <a:cxnLst/>
              <a:rect r="r" b="b" t="t" l="l"/>
              <a:pathLst>
                <a:path h="1066558" w="3271198">
                  <a:moveTo>
                    <a:pt x="18076" y="0"/>
                  </a:moveTo>
                  <a:lnTo>
                    <a:pt x="3253122" y="0"/>
                  </a:lnTo>
                  <a:cubicBezTo>
                    <a:pt x="3263105" y="0"/>
                    <a:pt x="3271198" y="8093"/>
                    <a:pt x="3271198" y="18076"/>
                  </a:cubicBezTo>
                  <a:lnTo>
                    <a:pt x="3271198" y="1048482"/>
                  </a:lnTo>
                  <a:cubicBezTo>
                    <a:pt x="3271198" y="1053276"/>
                    <a:pt x="3269294" y="1057874"/>
                    <a:pt x="3265904" y="1061264"/>
                  </a:cubicBezTo>
                  <a:cubicBezTo>
                    <a:pt x="3262514" y="1064654"/>
                    <a:pt x="3257916" y="1066558"/>
                    <a:pt x="3253122" y="1066558"/>
                  </a:cubicBezTo>
                  <a:lnTo>
                    <a:pt x="18076" y="1066558"/>
                  </a:lnTo>
                  <a:cubicBezTo>
                    <a:pt x="13282" y="1066558"/>
                    <a:pt x="8684" y="1064654"/>
                    <a:pt x="5294" y="1061264"/>
                  </a:cubicBezTo>
                  <a:cubicBezTo>
                    <a:pt x="1904" y="1057874"/>
                    <a:pt x="0" y="1053276"/>
                    <a:pt x="0" y="1048482"/>
                  </a:cubicBezTo>
                  <a:lnTo>
                    <a:pt x="0" y="18076"/>
                  </a:lnTo>
                  <a:cubicBezTo>
                    <a:pt x="0" y="13282"/>
                    <a:pt x="1904" y="8684"/>
                    <a:pt x="5294" y="5294"/>
                  </a:cubicBezTo>
                  <a:cubicBezTo>
                    <a:pt x="8684" y="1904"/>
                    <a:pt x="13282" y="0"/>
                    <a:pt x="1807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271198" cy="1123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10588" y="7031522"/>
            <a:ext cx="9764650" cy="698018"/>
            <a:chOff x="0" y="0"/>
            <a:chExt cx="3343804" cy="2390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43804" cy="239029"/>
            </a:xfrm>
            <a:custGeom>
              <a:avLst/>
              <a:gdLst/>
              <a:ahLst/>
              <a:cxnLst/>
              <a:rect r="r" b="b" t="t" l="l"/>
              <a:pathLst>
                <a:path h="239029" w="3343804">
                  <a:moveTo>
                    <a:pt x="79285" y="0"/>
                  </a:moveTo>
                  <a:lnTo>
                    <a:pt x="3264519" y="0"/>
                  </a:lnTo>
                  <a:cubicBezTo>
                    <a:pt x="3308307" y="0"/>
                    <a:pt x="3343804" y="35497"/>
                    <a:pt x="3343804" y="79285"/>
                  </a:cubicBezTo>
                  <a:lnTo>
                    <a:pt x="3343804" y="159744"/>
                  </a:lnTo>
                  <a:cubicBezTo>
                    <a:pt x="3343804" y="203532"/>
                    <a:pt x="3308307" y="239029"/>
                    <a:pt x="3264519" y="239029"/>
                  </a:cubicBezTo>
                  <a:lnTo>
                    <a:pt x="79285" y="239029"/>
                  </a:lnTo>
                  <a:cubicBezTo>
                    <a:pt x="35497" y="239029"/>
                    <a:pt x="0" y="203532"/>
                    <a:pt x="0" y="159744"/>
                  </a:cubicBezTo>
                  <a:lnTo>
                    <a:pt x="0" y="79285"/>
                  </a:lnTo>
                  <a:cubicBezTo>
                    <a:pt x="0" y="35497"/>
                    <a:pt x="35497" y="0"/>
                    <a:pt x="7928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343804" cy="296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673607" y="4226246"/>
            <a:ext cx="7815096" cy="131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5"/>
              </a:lnSpc>
              <a:spcBef>
                <a:spcPct val="0"/>
              </a:spcBef>
            </a:pPr>
            <a:r>
              <a:rPr lang="en-US" b="true" sz="896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OBRIGADO!!!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98831" y="7209399"/>
            <a:ext cx="976465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“N</a:t>
            </a:r>
            <a:r>
              <a:rPr lang="en-US" sz="18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unca um fracasso, sempre uma lição.”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DAHCwKSzM0c</dc:identifier>
  <dcterms:modified xsi:type="dcterms:W3CDTF">2011-08-01T06:04:30Z</dcterms:modified>
  <cp:revision>1</cp:revision>
  <dc:title>Grupo7-UniHub 3</dc:title>
</cp:coreProperties>
</file>